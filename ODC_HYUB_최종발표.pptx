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5" r:id="rId5"/>
    <p:sldId id="266" r:id="rId6"/>
    <p:sldId id="267" r:id="rId7"/>
    <p:sldId id="268" r:id="rId8"/>
    <p:sldId id="261" r:id="rId9"/>
    <p:sldId id="269" r:id="rId10"/>
    <p:sldId id="27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B98296-77B1-49F6-BC30-003B1B875E08}" v="919" dt="2026-02-20T18:05:09.646"/>
    <p1510:client id="{233BB04B-E3A9-415F-8EC7-192B8E2D291B}" v="27" dt="2026-02-21T04:54:24.407"/>
    <p1510:client id="{CFDE2AD9-DCFC-414B-B086-52B8BD03E457}" v="4" dt="2026-02-20T19:35:25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4000" dirty="0">
                <a:solidFill>
                  <a:schemeClr val="bg1"/>
                </a:solidFill>
                <a:ea typeface="맑은 고딕"/>
              </a:rPr>
              <a:t>전 위 잠 행</a:t>
            </a:r>
            <a:br>
              <a:rPr lang="ko-KR" altLang="en-US" sz="4000" dirty="0">
                <a:ea typeface="맑은 고딕"/>
              </a:rPr>
            </a:br>
            <a:r>
              <a:rPr lang="ko-KR" altLang="en-US" sz="2800" dirty="0">
                <a:solidFill>
                  <a:schemeClr val="bg1"/>
                </a:solidFill>
                <a:ea typeface="맑은 고딕"/>
              </a:rPr>
              <a:t>(</a:t>
            </a:r>
            <a:r>
              <a:rPr lang="ko-KR" altLang="en-US" sz="2800" dirty="0" err="1">
                <a:solidFill>
                  <a:schemeClr val="bg1"/>
                </a:solidFill>
                <a:ea typeface="맑은 고딕"/>
              </a:rPr>
              <a:t>team</a:t>
            </a:r>
            <a:r>
              <a:rPr lang="ko-KR" altLang="en-US" sz="2800" dirty="0">
                <a:solidFill>
                  <a:schemeClr val="bg1"/>
                </a:solidFill>
                <a:ea typeface="맑은 고딕"/>
              </a:rPr>
              <a:t>. HYUB)</a:t>
            </a:r>
            <a:endParaRPr lang="ko-KR" altLang="en-US" sz="280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952620" y="5657491"/>
            <a:ext cx="2436740" cy="78284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/>
            <a:r>
              <a:rPr lang="ko-KR" altLang="en-US" sz="1600" dirty="0">
                <a:solidFill>
                  <a:schemeClr val="bg1"/>
                </a:solidFill>
                <a:ea typeface="맑은 고딕"/>
              </a:rPr>
              <a:t>기획/개발 </a:t>
            </a:r>
            <a:r>
              <a:rPr lang="ko-KR" altLang="en-US" sz="1600" dirty="0" err="1">
                <a:solidFill>
                  <a:schemeClr val="bg1"/>
                </a:solidFill>
                <a:ea typeface="맑은 고딕"/>
              </a:rPr>
              <a:t>김보국</a:t>
            </a:r>
            <a:endParaRPr lang="ko-KR" altLang="en-US" sz="1600" dirty="0">
              <a:solidFill>
                <a:schemeClr val="bg1"/>
              </a:solidFill>
              <a:ea typeface="맑은 고딕" panose="020B0503020000020004" pitchFamily="34" charset="-127"/>
            </a:endParaRPr>
          </a:p>
          <a:p>
            <a:pPr algn="r"/>
            <a:r>
              <a:rPr lang="ko-KR" altLang="en-US" sz="1600">
                <a:solidFill>
                  <a:schemeClr val="bg1"/>
                </a:solidFill>
                <a:ea typeface="맑은 고딕"/>
              </a:rPr>
              <a:t>개발 김민석</a:t>
            </a:r>
          </a:p>
          <a:p>
            <a:pPr algn="r"/>
            <a:r>
              <a:rPr lang="ko-KR" altLang="en-US" sz="1600" dirty="0">
                <a:solidFill>
                  <a:schemeClr val="bg1"/>
                </a:solidFill>
                <a:ea typeface="맑은 고딕"/>
              </a:rPr>
              <a:t>아트 </a:t>
            </a:r>
            <a:r>
              <a:rPr lang="ko-KR" altLang="en-US" sz="1600" dirty="0" err="1">
                <a:solidFill>
                  <a:schemeClr val="bg1"/>
                </a:solidFill>
                <a:ea typeface="맑은 고딕"/>
              </a:rPr>
              <a:t>조예진</a:t>
            </a:r>
            <a:endParaRPr lang="ko-KR" altLang="en-US" sz="1600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밤, 파노라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200173-FED3-AF5A-7480-ED0619D717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5764" y="0"/>
            <a:ext cx="37826960" cy="7914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7B7AD4-40C2-644A-C313-5A530AD9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무슨 게임인가</a:t>
            </a:r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?</a:t>
            </a:r>
            <a:endParaRPr lang="ko-K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6BA45-A498-BDA9-C286-CF363F211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461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2D </a:t>
            </a:r>
            <a:r>
              <a:rPr lang="ko-KR" alt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횡스크롤</a:t>
            </a: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 잠입 액션 </a:t>
            </a:r>
            <a:r>
              <a:rPr lang="ko-KR" alt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플랫포머</a:t>
            </a:r>
            <a:endParaRPr lang="ko-K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/>
            </a:endParaRPr>
          </a:p>
        </p:txBody>
      </p:sp>
      <p:pic>
        <p:nvPicPr>
          <p:cNvPr id="2050" name="Picture 2" descr="G] 카타나 제로 Katana ZERO">
            <a:extLst>
              <a:ext uri="{FF2B5EF4-FFF2-40B4-BE49-F238E27FC236}">
                <a16:creationId xmlns:a16="http://schemas.microsoft.com/office/drawing/2014/main" id="{4B6F9FAF-0464-C784-E839-A8CE544B4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96662"/>
            <a:ext cx="4916129" cy="276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더 역동적인 사이버펑크 액션, '산나비' 2차 CBT 모집 | 웹진 인벤">
            <a:extLst>
              <a:ext uri="{FF2B5EF4-FFF2-40B4-BE49-F238E27FC236}">
                <a16:creationId xmlns:a16="http://schemas.microsoft.com/office/drawing/2014/main" id="{DCB097AE-A16E-43EA-8028-AF16B9442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9" y="2639346"/>
            <a:ext cx="5751871" cy="323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418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스크린샷, 밤, 파노라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48C456-9B05-9628-4C66-6CBBDC41E5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5764" y="0"/>
            <a:ext cx="37826960" cy="7914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FF6800D-ADD6-1AE6-3AF2-6A1EC36D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핵심 메카닉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E257E-9B02-60F5-39D3-7CFD2D705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지정한 두 대상의 위치를 바꾼다</a:t>
            </a:r>
            <a:r>
              <a:rPr lang="en-US" altLang="ko-KR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endParaRPr lang="en-US" altLang="ko-KR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만화 영화, 클립아트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3B628E-6188-5548-26B6-0F5BF511C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185" y="2107347"/>
            <a:ext cx="2092699" cy="2092699"/>
          </a:xfrm>
          <a:prstGeom prst="rect">
            <a:avLst/>
          </a:prstGeom>
        </p:spPr>
      </p:pic>
      <p:pic>
        <p:nvPicPr>
          <p:cNvPr id="7" name="그림 6" descr="클립아트, 만화 영화, 포유류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401098-98FC-CCC6-2E27-1A97FEF90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547" y="2107347"/>
            <a:ext cx="2092699" cy="2092699"/>
          </a:xfrm>
          <a:prstGeom prst="rect">
            <a:avLst/>
          </a:prstGeom>
        </p:spPr>
      </p:pic>
      <p:pic>
        <p:nvPicPr>
          <p:cNvPr id="9" name="그림 8" descr="스크린샷, 직사각형, 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FA3D42-36C4-61F8-6BE5-33304DE999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10" y="4688982"/>
            <a:ext cx="2358511" cy="1415108"/>
          </a:xfrm>
          <a:prstGeom prst="rect">
            <a:avLst/>
          </a:prstGeom>
        </p:spPr>
      </p:pic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C7986AA1-B094-80D4-37EE-089FE5534694}"/>
              </a:ext>
            </a:extLst>
          </p:cNvPr>
          <p:cNvSpPr/>
          <p:nvPr/>
        </p:nvSpPr>
        <p:spPr>
          <a:xfrm>
            <a:off x="3775587" y="2898057"/>
            <a:ext cx="4081959" cy="415414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왼쪽/오른쪽 16">
            <a:extLst>
              <a:ext uri="{FF2B5EF4-FFF2-40B4-BE49-F238E27FC236}">
                <a16:creationId xmlns:a16="http://schemas.microsoft.com/office/drawing/2014/main" id="{3663AAD7-F2AC-C26D-FF76-40E24E5419A1}"/>
              </a:ext>
            </a:extLst>
          </p:cNvPr>
          <p:cNvSpPr/>
          <p:nvPr/>
        </p:nvSpPr>
        <p:spPr>
          <a:xfrm rot="19148295">
            <a:off x="6801265" y="4140161"/>
            <a:ext cx="1707869" cy="415414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왼쪽/오른쪽 17">
            <a:extLst>
              <a:ext uri="{FF2B5EF4-FFF2-40B4-BE49-F238E27FC236}">
                <a16:creationId xmlns:a16="http://schemas.microsoft.com/office/drawing/2014/main" id="{62FE7F5F-D692-4E86-E235-295F0C4C7064}"/>
              </a:ext>
            </a:extLst>
          </p:cNvPr>
          <p:cNvSpPr/>
          <p:nvPr/>
        </p:nvSpPr>
        <p:spPr>
          <a:xfrm rot="2202144">
            <a:off x="3140886" y="4259528"/>
            <a:ext cx="2090397" cy="494072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65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121AE-D585-CEC4-238F-93B24333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스크린샷, 밤, 파노라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B752B4-7D36-AD16-DB2A-C22B0044A2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4790" y="0"/>
            <a:ext cx="37826960" cy="7914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627C30B-555B-3A40-389E-E41A3F80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조작 방법 - 플레이어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5ABAD-08D9-2066-4981-C2D538F62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altLang="ko-KR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/>
            </a:endParaRPr>
          </a:p>
          <a:p>
            <a:endParaRPr lang="en-US" altLang="ko-KR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만화 영화, 클립아트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8B25BC-B0AE-1815-F01E-0FBE39931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029" y="4837296"/>
            <a:ext cx="2092699" cy="2092699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70E1C9E-BF74-9476-5F6C-7DAD2E5EE9B5}"/>
              </a:ext>
            </a:extLst>
          </p:cNvPr>
          <p:cNvSpPr/>
          <p:nvPr/>
        </p:nvSpPr>
        <p:spPr>
          <a:xfrm>
            <a:off x="6969369" y="5612805"/>
            <a:ext cx="1223596" cy="681403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chemeClr val="tx1"/>
                </a:solidFill>
                <a:ea typeface="맑은 고딕"/>
              </a:rPr>
              <a:t>D</a:t>
            </a:r>
            <a:endParaRPr lang="ko-KR" altLang="en-US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639A139-3F42-41B0-BEDE-32BBDD170DF1}"/>
              </a:ext>
            </a:extLst>
          </p:cNvPr>
          <p:cNvSpPr/>
          <p:nvPr/>
        </p:nvSpPr>
        <p:spPr>
          <a:xfrm>
            <a:off x="3656324" y="5612804"/>
            <a:ext cx="1223596" cy="681403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ea typeface="맑은 고딕"/>
              </a:rPr>
              <a:t>A</a:t>
            </a:r>
          </a:p>
        </p:txBody>
      </p:sp>
      <p:sp>
        <p:nvSpPr>
          <p:cNvPr id="10" name="화살표: 위쪽 9">
            <a:extLst>
              <a:ext uri="{FF2B5EF4-FFF2-40B4-BE49-F238E27FC236}">
                <a16:creationId xmlns:a16="http://schemas.microsoft.com/office/drawing/2014/main" id="{676E96D6-4200-90E2-4294-5B11DC088896}"/>
              </a:ext>
            </a:extLst>
          </p:cNvPr>
          <p:cNvSpPr/>
          <p:nvPr/>
        </p:nvSpPr>
        <p:spPr>
          <a:xfrm>
            <a:off x="5084758" y="3857401"/>
            <a:ext cx="1670473" cy="1053229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chemeClr val="tx1"/>
                </a:solidFill>
                <a:ea typeface="맑은 고딕"/>
              </a:rPr>
              <a:t>space</a:t>
            </a:r>
            <a:endParaRPr lang="ko-KR" err="1">
              <a:solidFill>
                <a:schemeClr val="tx1"/>
              </a:solidFill>
              <a:ea typeface="맑은 고딕"/>
            </a:endParaRPr>
          </a:p>
        </p:txBody>
      </p:sp>
      <p:pic>
        <p:nvPicPr>
          <p:cNvPr id="11" name="그림 10" descr="스케치, 그림, 클립아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07A20A-FC33-5B5C-0C99-D7D802249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780" y="2973456"/>
            <a:ext cx="1219200" cy="1219200"/>
          </a:xfrm>
          <a:prstGeom prst="rect">
            <a:avLst/>
          </a:prstGeom>
        </p:spPr>
      </p:pic>
      <p:pic>
        <p:nvPicPr>
          <p:cNvPr id="12" name="그림 11" descr="클립아트, 만화 영화, 그림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76B4DD-B4EC-0ADC-B900-080CE7FCB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496" y="2415208"/>
            <a:ext cx="1219200" cy="1219200"/>
          </a:xfrm>
          <a:prstGeom prst="rect">
            <a:avLst/>
          </a:prstGeom>
        </p:spPr>
      </p:pic>
      <p:pic>
        <p:nvPicPr>
          <p:cNvPr id="13" name="그림 12" descr="클립아트, 만화 영화, 그래픽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A3C97F-BEF0-709C-EE98-61FE4EDAD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1332" y="2974529"/>
            <a:ext cx="1219200" cy="1219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494358-7008-4D6B-0D75-E597780934D0}"/>
              </a:ext>
            </a:extLst>
          </p:cNvPr>
          <p:cNvSpPr txBox="1"/>
          <p:nvPr/>
        </p:nvSpPr>
        <p:spPr>
          <a:xfrm>
            <a:off x="1883019" y="4308231"/>
            <a:ext cx="13188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S</a:t>
            </a:r>
            <a:r>
              <a:rPr lang="ko-KR" altLang="en-US" dirty="0">
                <a:solidFill>
                  <a:schemeClr val="bg1"/>
                </a:solidFill>
                <a:ea typeface="맑은 고딕"/>
              </a:rPr>
              <a:t> : 암살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63007-6B68-170F-0225-200C62B857C3}"/>
              </a:ext>
            </a:extLst>
          </p:cNvPr>
          <p:cNvSpPr txBox="1"/>
          <p:nvPr/>
        </p:nvSpPr>
        <p:spPr>
          <a:xfrm>
            <a:off x="8968153" y="4308231"/>
            <a:ext cx="19562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좌클릭</a:t>
            </a:r>
            <a:r>
              <a:rPr lang="ko-KR" altLang="en-US" dirty="0">
                <a:solidFill>
                  <a:schemeClr val="bg1"/>
                </a:solidFill>
                <a:ea typeface="맑은 고딕"/>
              </a:rPr>
              <a:t> : 투척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57F36D-3944-8F38-1660-A8B68AE2E31B}"/>
              </a:ext>
            </a:extLst>
          </p:cNvPr>
          <p:cNvSpPr txBox="1"/>
          <p:nvPr/>
        </p:nvSpPr>
        <p:spPr>
          <a:xfrm>
            <a:off x="8968153" y="4674577"/>
            <a:ext cx="21321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우클릭</a:t>
            </a:r>
            <a:r>
              <a:rPr lang="ko-KR" altLang="en-US" dirty="0">
                <a:solidFill>
                  <a:schemeClr val="bg1"/>
                </a:solidFill>
                <a:ea typeface="맑은 고딕"/>
              </a:rPr>
              <a:t> : 상호 작용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ED356D-BF9B-65AF-6765-0A7DC2D51917}"/>
              </a:ext>
            </a:extLst>
          </p:cNvPr>
          <p:cNvSpPr txBox="1"/>
          <p:nvPr/>
        </p:nvSpPr>
        <p:spPr>
          <a:xfrm>
            <a:off x="6396402" y="6425711"/>
            <a:ext cx="19562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ctrl</a:t>
            </a:r>
            <a:r>
              <a:rPr lang="ko-KR" altLang="en-US" dirty="0">
                <a:solidFill>
                  <a:schemeClr val="bg1"/>
                </a:solidFill>
                <a:ea typeface="맑은 고딕"/>
              </a:rPr>
              <a:t> : 은신</a:t>
            </a:r>
          </a:p>
        </p:txBody>
      </p:sp>
    </p:spTree>
    <p:extLst>
      <p:ext uri="{BB962C8B-B14F-4D97-AF65-F5344CB8AC3E}">
        <p14:creationId xmlns:p14="http://schemas.microsoft.com/office/powerpoint/2010/main" val="3356063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DBC50-775D-FC9B-8CAE-6B5849DA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스크린샷, 밤, 파노라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DE3FE7-96B8-D327-1B2D-476702708D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5764" y="0"/>
            <a:ext cx="37826960" cy="7914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CE8D629-9A9B-FCB3-9D90-FDD0DC98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적 로직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EE097-9DF7-786C-B497-221DD07E0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ko-KR" alt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/>
            </a:endParaRPr>
          </a:p>
          <a:p>
            <a:endParaRPr lang="en-US" altLang="ko-KR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 descr="클립아트, 만화 영화, 포유류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A8AE61-A954-5399-A017-AC6729DDA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336" y="4416305"/>
            <a:ext cx="1219200" cy="1219200"/>
          </a:xfrm>
          <a:prstGeom prst="rect">
            <a:avLst/>
          </a:prstGeom>
        </p:spPr>
      </p:pic>
      <p:pic>
        <p:nvPicPr>
          <p:cNvPr id="6" name="그림 5" descr="스케치, 그림, 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470916-7B9B-047B-3791-FAB8558F0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781" y="4418748"/>
            <a:ext cx="1149928" cy="1219200"/>
          </a:xfrm>
          <a:prstGeom prst="rect">
            <a:avLst/>
          </a:prstGeom>
        </p:spPr>
      </p:pic>
      <p:pic>
        <p:nvPicPr>
          <p:cNvPr id="8" name="그림 7" descr="클립아트, 만화 영화, 일러스트레이션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5A9D7E-FD86-EB80-D2A9-A06A1C3DD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629" y="4417753"/>
            <a:ext cx="1219200" cy="121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751144-6E1B-E950-3A31-323FD53DD1D5}"/>
              </a:ext>
            </a:extLst>
          </p:cNvPr>
          <p:cNvSpPr txBox="1"/>
          <p:nvPr/>
        </p:nvSpPr>
        <p:spPr>
          <a:xfrm>
            <a:off x="1221344" y="1624030"/>
            <a:ext cx="681393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기본 로직 : 순찰, 경계, 추격(공격) 상태가 존재</a:t>
            </a:r>
          </a:p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      암살 또는 추락하는 상자를 맞으면 사망</a:t>
            </a:r>
          </a:p>
          <a:p>
            <a:r>
              <a:rPr lang="ko-KR" dirty="0">
                <a:solidFill>
                  <a:schemeClr val="bg1"/>
                </a:solidFill>
                <a:latin typeface="Malgun Gothic"/>
                <a:ea typeface="Malgun Gothic"/>
              </a:rPr>
              <a:t>      플레이어는 </a:t>
            </a:r>
            <a:r>
              <a:rPr lang="ko-KR" dirty="0" err="1">
                <a:solidFill>
                  <a:schemeClr val="bg1"/>
                </a:solidFill>
                <a:latin typeface="Malgun Gothic"/>
                <a:ea typeface="Malgun Gothic"/>
              </a:rPr>
              <a:t>피격시</a:t>
            </a:r>
            <a:r>
              <a:rPr lang="ko-KR" dirty="0">
                <a:solidFill>
                  <a:schemeClr val="bg1"/>
                </a:solidFill>
                <a:latin typeface="Malgun Gothic"/>
                <a:ea typeface="Malgun Gothic"/>
              </a:rPr>
              <a:t> 잠시 </a:t>
            </a:r>
            <a:r>
              <a:rPr lang="ko-KR" dirty="0" err="1">
                <a:solidFill>
                  <a:schemeClr val="bg1"/>
                </a:solidFill>
                <a:latin typeface="Malgun Gothic"/>
                <a:ea typeface="Malgun Gothic"/>
              </a:rPr>
              <a:t>무적이되며</a:t>
            </a:r>
            <a:r>
              <a:rPr lang="ko-KR" dirty="0">
                <a:solidFill>
                  <a:schemeClr val="bg1"/>
                </a:solidFill>
                <a:latin typeface="Malgun Gothic"/>
                <a:ea typeface="Malgun Gothic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Malgun Gothic"/>
                <a:ea typeface="Malgun Gothic"/>
              </a:rPr>
              <a:t>빨라진다</a:t>
            </a:r>
            <a:r>
              <a:rPr lang="en-US" altLang="ko-KR" dirty="0">
                <a:solidFill>
                  <a:schemeClr val="bg1"/>
                </a:solidFill>
                <a:latin typeface="Malgun Gothic"/>
                <a:ea typeface="Malgun Gothic"/>
              </a:rPr>
              <a:t>.</a:t>
            </a:r>
            <a:endParaRPr lang="ko-KR" dirty="0">
              <a:solidFill>
                <a:schemeClr val="bg1"/>
              </a:solidFill>
              <a:latin typeface="Malgun Gothic"/>
              <a:ea typeface="Malgun Gothic"/>
            </a:endParaRPr>
          </a:p>
          <a:p>
            <a:r>
              <a:rPr lang="ko-KR" altLang="en-US" dirty="0">
                <a:ea typeface="맑은 고딕"/>
              </a:rPr>
              <a:t>​</a:t>
            </a:r>
            <a:br>
              <a:rPr lang="ko-KR" altLang="en-US" dirty="0">
                <a:solidFill>
                  <a:schemeClr val="bg1"/>
                </a:solidFill>
                <a:ea typeface="맑은 고딕"/>
              </a:rPr>
            </a:br>
            <a:r>
              <a:rPr lang="ko-KR" altLang="en-US" dirty="0">
                <a:solidFill>
                  <a:schemeClr val="bg1"/>
                </a:solidFill>
                <a:ea typeface="맑은 고딕"/>
              </a:rPr>
              <a:t>​</a:t>
            </a:r>
            <a:endParaRPr lang="ko-KR" altLang="en-US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EF8F4E-AB4F-A8D9-61FE-B8F680ABDBF3}"/>
              </a:ext>
            </a:extLst>
          </p:cNvPr>
          <p:cNvSpPr txBox="1"/>
          <p:nvPr/>
        </p:nvSpPr>
        <p:spPr>
          <a:xfrm>
            <a:off x="1221807" y="3099141"/>
            <a:ext cx="568438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ea typeface="맑은 고딕"/>
              </a:rPr>
              <a:t>근거리 :</a:t>
            </a:r>
          </a:p>
          <a:p>
            <a:r>
              <a:rPr lang="ko-KR" altLang="en-US">
                <a:solidFill>
                  <a:schemeClr val="bg1"/>
                </a:solidFill>
                <a:ea typeface="+mn-lt"/>
              </a:rPr>
              <a:t>플레이어 발견 --&gt; 추격, 공격</a:t>
            </a:r>
            <a:endParaRPr lang="ko-KR" altLang="en-US" dirty="0">
              <a:solidFill>
                <a:schemeClr val="bg1"/>
              </a:solidFill>
              <a:ea typeface="+mn-lt"/>
            </a:endParaRPr>
          </a:p>
          <a:p>
            <a:r>
              <a:rPr lang="ko-KR" altLang="en-US" dirty="0">
                <a:solidFill>
                  <a:schemeClr val="bg1"/>
                </a:solidFill>
                <a:ea typeface="+mn-lt"/>
                <a:cs typeface="+mn-lt"/>
              </a:rPr>
              <a:t>플레이어 </a:t>
            </a:r>
            <a:r>
              <a:rPr lang="ko-KR" altLang="en-US" dirty="0" err="1">
                <a:solidFill>
                  <a:schemeClr val="bg1"/>
                </a:solidFill>
                <a:ea typeface="+mn-lt"/>
                <a:cs typeface="+mn-lt"/>
              </a:rPr>
              <a:t>추락시</a:t>
            </a:r>
            <a:r>
              <a:rPr lang="ko-KR" altLang="en-US" dirty="0">
                <a:solidFill>
                  <a:schemeClr val="bg1"/>
                </a:solidFill>
                <a:ea typeface="+mn-lt"/>
                <a:cs typeface="+mn-lt"/>
              </a:rPr>
              <a:t> --&gt; 소음발생 --&gt; 해당위치로 순찰</a:t>
            </a:r>
            <a:endParaRPr lang="ko-KR" dirty="0">
              <a:solidFill>
                <a:schemeClr val="bg1"/>
              </a:solidFill>
              <a:ea typeface="맑은 고딕"/>
            </a:endParaRPr>
          </a:p>
          <a:p>
            <a:r>
              <a:rPr lang="ko-KR" dirty="0">
                <a:solidFill>
                  <a:schemeClr val="bg1"/>
                </a:solidFill>
                <a:ea typeface="+mn-lt"/>
                <a:cs typeface="+mn-lt"/>
              </a:rPr>
              <a:t>체력이 높은 엘리트가 존재</a:t>
            </a:r>
            <a:endParaRPr lang="ko-KR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428E55-5977-863F-53FD-158DEBBE70B2}"/>
              </a:ext>
            </a:extLst>
          </p:cNvPr>
          <p:cNvSpPr txBox="1"/>
          <p:nvPr/>
        </p:nvSpPr>
        <p:spPr>
          <a:xfrm>
            <a:off x="2359862" y="5640218"/>
            <a:ext cx="6641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기본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BE938-6979-5695-DB8D-8498DDF3139A}"/>
              </a:ext>
            </a:extLst>
          </p:cNvPr>
          <p:cNvSpPr txBox="1"/>
          <p:nvPr/>
        </p:nvSpPr>
        <p:spPr>
          <a:xfrm>
            <a:off x="3605955" y="5640218"/>
            <a:ext cx="9420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엘리트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501FC-8309-2B79-B07E-53FF883DDD80}"/>
              </a:ext>
            </a:extLst>
          </p:cNvPr>
          <p:cNvSpPr txBox="1"/>
          <p:nvPr/>
        </p:nvSpPr>
        <p:spPr>
          <a:xfrm>
            <a:off x="7281949" y="3108106"/>
            <a:ext cx="49134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원거리 :</a:t>
            </a:r>
          </a:p>
          <a:p>
            <a:endParaRPr lang="ko-KR" altLang="en-US" dirty="0">
              <a:solidFill>
                <a:schemeClr val="bg1"/>
              </a:solidFill>
              <a:ea typeface="+mn-lt"/>
            </a:endParaRPr>
          </a:p>
          <a:p>
            <a:r>
              <a:rPr lang="ko-KR" altLang="en-US" dirty="0">
                <a:solidFill>
                  <a:schemeClr val="bg1"/>
                </a:solidFill>
                <a:ea typeface="+mn-lt"/>
              </a:rPr>
              <a:t>플레이어 발견 --&gt; </a:t>
            </a:r>
            <a:r>
              <a:rPr lang="ko-KR" altLang="en-US" dirty="0" err="1">
                <a:solidFill>
                  <a:schemeClr val="bg1"/>
                </a:solidFill>
                <a:ea typeface="+mn-lt"/>
              </a:rPr>
              <a:t>수리검</a:t>
            </a:r>
            <a:r>
              <a:rPr lang="ko-KR" altLang="en-US" dirty="0">
                <a:solidFill>
                  <a:schemeClr val="bg1"/>
                </a:solidFill>
                <a:ea typeface="+mn-lt"/>
              </a:rPr>
              <a:t> 발사</a:t>
            </a:r>
            <a:endParaRPr lang="ko-KR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9BCF2A-EE65-19BB-AAD0-5BFF8A52F49C}"/>
              </a:ext>
            </a:extLst>
          </p:cNvPr>
          <p:cNvSpPr txBox="1"/>
          <p:nvPr/>
        </p:nvSpPr>
        <p:spPr>
          <a:xfrm>
            <a:off x="8590333" y="5640217"/>
            <a:ext cx="11482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원거리</a:t>
            </a:r>
          </a:p>
        </p:txBody>
      </p:sp>
    </p:spTree>
    <p:extLst>
      <p:ext uri="{BB962C8B-B14F-4D97-AF65-F5344CB8AC3E}">
        <p14:creationId xmlns:p14="http://schemas.microsoft.com/office/powerpoint/2010/main" val="14577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ED727C3-8C61-75A3-3E57-852C645E3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95" y="-2428"/>
            <a:ext cx="10515600" cy="1325563"/>
          </a:xfrm>
        </p:spPr>
        <p:txBody>
          <a:bodyPr/>
          <a:lstStyle/>
          <a:p>
            <a:r>
              <a:rPr lang="ko-KR" altLang="en-US" dirty="0" err="1">
                <a:solidFill>
                  <a:schemeClr val="bg1"/>
                </a:solidFill>
                <a:ea typeface="맑은 고딕"/>
              </a:rPr>
              <a:t>인게임</a:t>
            </a:r>
            <a:r>
              <a:rPr lang="ko-KR" altLang="en-US" dirty="0">
                <a:solidFill>
                  <a:schemeClr val="bg1"/>
                </a:solidFill>
                <a:ea typeface="맑은 고딕"/>
              </a:rPr>
              <a:t> 설명</a:t>
            </a:r>
          </a:p>
        </p:txBody>
      </p:sp>
      <p:pic>
        <p:nvPicPr>
          <p:cNvPr id="4" name="내용 개체 틀 3" descr="스크린샷, 양초이(가) 표시된 사진">
            <a:extLst>
              <a:ext uri="{FF2B5EF4-FFF2-40B4-BE49-F238E27FC236}">
                <a16:creationId xmlns:a16="http://schemas.microsoft.com/office/drawing/2014/main" id="{B948D7A8-2561-1939-0074-39A401ECFDC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362635" y="1010397"/>
            <a:ext cx="9199563" cy="514032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6624190-B981-D35D-6A97-C1C48B79527D}"/>
              </a:ext>
            </a:extLst>
          </p:cNvPr>
          <p:cNvSpPr/>
          <p:nvPr/>
        </p:nvSpPr>
        <p:spPr>
          <a:xfrm>
            <a:off x="4957482" y="5011270"/>
            <a:ext cx="1649505" cy="104887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E854597-7560-FD7F-C395-A53E28D63106}"/>
              </a:ext>
            </a:extLst>
          </p:cNvPr>
          <p:cNvSpPr/>
          <p:nvPr/>
        </p:nvSpPr>
        <p:spPr>
          <a:xfrm>
            <a:off x="2832847" y="3155576"/>
            <a:ext cx="3451410" cy="1264022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6024D6-4CB7-6D1E-44FE-155B8B846B40}"/>
              </a:ext>
            </a:extLst>
          </p:cNvPr>
          <p:cNvSpPr/>
          <p:nvPr/>
        </p:nvSpPr>
        <p:spPr>
          <a:xfrm>
            <a:off x="1362634" y="797858"/>
            <a:ext cx="1649505" cy="104887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10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0EC1C-95CE-971D-D8D7-4991673E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32" y="252557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rgbClr val="FFFFFF"/>
                </a:solidFill>
                <a:ea typeface="맑은 고딕"/>
              </a:rPr>
              <a:t>게임 목표 : 비급획득 후 탈출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6" name="내용 개체 틀 5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4AC146-07AE-E1B4-9AE8-C6323BFA69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26141" y="1570027"/>
            <a:ext cx="5181600" cy="4045523"/>
          </a:xfrm>
          <a:prstGeom prst="rect">
            <a:avLst/>
          </a:prstGeom>
        </p:spPr>
      </p:pic>
      <p:pic>
        <p:nvPicPr>
          <p:cNvPr id="7" name="내용 개체 틀 6" descr="양초, 크리스마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A046BA-A17A-4C05-028B-E6A9918FA0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571132"/>
            <a:ext cx="5181600" cy="4046369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52F05C0A-1D44-5A54-4674-7E0C36A20327}"/>
              </a:ext>
            </a:extLst>
          </p:cNvPr>
          <p:cNvSpPr txBox="1">
            <a:spLocks/>
          </p:cNvSpPr>
          <p:nvPr/>
        </p:nvSpPr>
        <p:spPr>
          <a:xfrm>
            <a:off x="2583873" y="5357957"/>
            <a:ext cx="21162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FFFFFF"/>
                </a:solidFill>
                <a:ea typeface="맑은 고딕"/>
              </a:rPr>
              <a:t>비급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2E85E6F-A5FA-6FC6-6E9D-9998C798B311}"/>
              </a:ext>
            </a:extLst>
          </p:cNvPr>
          <p:cNvSpPr txBox="1">
            <a:spLocks/>
          </p:cNvSpPr>
          <p:nvPr/>
        </p:nvSpPr>
        <p:spPr>
          <a:xfrm>
            <a:off x="7952509" y="5626388"/>
            <a:ext cx="28523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FFFFFF"/>
                </a:solidFill>
                <a:ea typeface="맑은 고딕"/>
              </a:rPr>
              <a:t>탈출 단계</a:t>
            </a:r>
            <a:endParaRPr lang="ko-KR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FF82F2D-6E07-BD4D-2E62-70281C2FDCA6}"/>
              </a:ext>
            </a:extLst>
          </p:cNvPr>
          <p:cNvSpPr/>
          <p:nvPr/>
        </p:nvSpPr>
        <p:spPr>
          <a:xfrm>
            <a:off x="3641300" y="2820520"/>
            <a:ext cx="1649505" cy="104887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33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밤, 파노라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1072FC-C38A-B797-56A7-F2D896C5D7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7081" y="-451"/>
            <a:ext cx="37826960" cy="7914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E1E592-2884-41CB-85DE-61005610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86" y="1903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맑은 고딕"/>
              </a:rPr>
              <a:t>플레이 팁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B5612EA-4ED1-0E36-635F-5B3B3823C960}"/>
              </a:ext>
            </a:extLst>
          </p:cNvPr>
          <p:cNvSpPr txBox="1">
            <a:spLocks/>
          </p:cNvSpPr>
          <p:nvPr/>
        </p:nvSpPr>
        <p:spPr>
          <a:xfrm>
            <a:off x="1063487" y="2763768"/>
            <a:ext cx="10515600" cy="409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현재 위치에 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마킹 --&gt; 앞으로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가서 정찰 </a:t>
            </a:r>
            <a:r>
              <a:rPr lang="en-US" alt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--&gt;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발각 --&gt; </a:t>
            </a:r>
            <a:r>
              <a:rPr lang="ko-KR" sz="20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마킹한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곳으로 탈출.</a:t>
            </a:r>
            <a:endParaRPr lang="ko-KR" sz="2000">
              <a:solidFill>
                <a:schemeClr val="bg1"/>
              </a:solidFill>
              <a:ea typeface="맑은 고딕"/>
            </a:endParaRPr>
          </a:p>
          <a:p>
            <a:endParaRPr lang="ko-KR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lt"/>
              <a:cs typeface="+mj-lt"/>
            </a:endParaRPr>
          </a:p>
          <a:p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적과 위치를 바꾸기 --&gt; 적 교란 및 안전지대 형성</a:t>
            </a:r>
            <a:endParaRPr lang="ko-KR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/>
            </a:endParaRPr>
          </a:p>
          <a:p>
            <a:endParaRPr lang="ko-K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lt"/>
              <a:cs typeface="+mj-lt"/>
            </a:endParaRPr>
          </a:p>
          <a:p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위치 변환으로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접근 </a:t>
            </a:r>
            <a:r>
              <a:rPr lang="en-US" alt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or </a:t>
            </a:r>
            <a:r>
              <a:rPr lang="en-US" altLang="ko-K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유인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--&gt;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암살</a:t>
            </a:r>
            <a:endParaRPr lang="ko-KR" sz="2000" dirty="0">
              <a:solidFill>
                <a:schemeClr val="bg1"/>
              </a:solidFill>
              <a:ea typeface="맑은 고딕"/>
            </a:endParaRPr>
          </a:p>
          <a:p>
            <a:endParaRPr lang="ko-K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lt"/>
              <a:cs typeface="+mj-lt"/>
            </a:endParaRPr>
          </a:p>
          <a:p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은신 </a:t>
            </a:r>
            <a:r>
              <a:rPr lang="en-US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--&gt;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감지 범위감소 </a:t>
            </a:r>
            <a:r>
              <a:rPr lang="en-US" alt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--&gt;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조용히 통과</a:t>
            </a:r>
            <a:endParaRPr lang="ko-K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/>
            </a:endParaRPr>
          </a:p>
          <a:p>
            <a:endParaRPr lang="ko-KR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lt"/>
              <a:cs typeface="+mj-lt"/>
            </a:endParaRPr>
          </a:p>
          <a:p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적을 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몰아놓기 --&gt;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상자 떨구기 --&gt; 한번에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적들</a:t>
            </a:r>
            <a:r>
              <a:rPr 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  <a:t> 제거</a:t>
            </a:r>
            <a:endParaRPr lang="ko-KR" sz="2000">
              <a:solidFill>
                <a:schemeClr val="bg1"/>
              </a:solidFill>
              <a:ea typeface="맑은 고딕"/>
            </a:endParaRPr>
          </a:p>
        </p:txBody>
      </p:sp>
      <p:pic>
        <p:nvPicPr>
          <p:cNvPr id="10" name="그림 9" descr="스크린샷, 원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482DBE-9F77-B24D-6846-C87C7C71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29" y="1321954"/>
            <a:ext cx="8370277" cy="198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2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E32F4-C831-19CB-40FF-12F92F3A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ea typeface="맑은 고딕"/>
              </a:rPr>
              <a:t>개발자 기록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내용 개체 틀 5" descr="텍스트, 양초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02CAA5-5120-D27F-4EFE-1293C10B3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544" y="1711325"/>
            <a:ext cx="1038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0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35391-CE1D-328F-311E-595AD857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759" y="2548416"/>
            <a:ext cx="3670092" cy="1325563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solidFill>
                  <a:srgbClr val="FFFFFF"/>
                </a:solidFill>
                <a:ea typeface="맑은 고딕"/>
              </a:rPr>
              <a:t>감사합니다!</a:t>
            </a:r>
            <a:endParaRPr lang="ko-KR" altLang="en-US" sz="3600">
              <a:solidFill>
                <a:srgbClr val="FFFFFF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88144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전 위 잠 행 (team. HYUB)</vt:lpstr>
      <vt:lpstr>무슨 게임인가?</vt:lpstr>
      <vt:lpstr>핵심 메카닉</vt:lpstr>
      <vt:lpstr>조작 방법 - 플레이어</vt:lpstr>
      <vt:lpstr>적 로직</vt:lpstr>
      <vt:lpstr>인게임 설명</vt:lpstr>
      <vt:lpstr>게임 목표 : 비급획득 후 탈출</vt:lpstr>
      <vt:lpstr>플레이 팁</vt:lpstr>
      <vt:lpstr>개발자 기록</vt:lpstr>
      <vt:lpstr>감사합니다!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283</cp:revision>
  <dcterms:created xsi:type="dcterms:W3CDTF">2026-02-20T09:15:54Z</dcterms:created>
  <dcterms:modified xsi:type="dcterms:W3CDTF">2026-02-21T04:54:33Z</dcterms:modified>
</cp:coreProperties>
</file>